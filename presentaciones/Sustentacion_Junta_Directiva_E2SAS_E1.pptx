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15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41A47"/>
                </a:solidFill>
                <a:latin typeface="Arial"/>
              </a:rPr>
              <a:t>Lead time declarado vs. real (días)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lead time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FC-4B05-AD33-4E22AF18FC86}"/>
              </c:ext>
            </c:extLst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FC-4B05-AD33-4E22AF18FC8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LT en el ERP</c:v>
                </c:pt>
                <c:pt idx="1">
                  <c:v>LT real (proveedores)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12.11</c:v>
                </c:pt>
                <c:pt idx="1">
                  <c:v>20.78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FC-4B05-AD33-4E22AF18FC8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946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OTIF de lámina — 107 OC cerradas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OTIF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B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A11-455F-B1C9-1277B308BB17}"/>
              </c:ext>
            </c:extLst>
          </c:dPt>
          <c:dPt>
            <c:idx val="1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11-455F-B1C9-1277B308BB17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11-455F-B1C9-1277B308BB17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11-455F-B1C9-1277B308BB1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 tiempo (3 OC)</c:v>
                </c:pt>
                <c:pt idx="1">
                  <c:v>En mora (104 OC)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2.8</c:v>
                </c:pt>
                <c:pt idx="1">
                  <c:v>97.2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11-455F-B1C9-1277B308BB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32946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Composición del catálogo (420 SKUs)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Catálogo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B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C7A-496D-ACE7-93E70C18DAF9}"/>
              </c:ext>
            </c:extLst>
          </c:dPt>
          <c:dPt>
            <c:idx val="1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7A-496D-ACE7-93E70C18DAF9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7A-496D-ACE7-93E70C18DAF9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7A-496D-ACE7-93E70C18DAF9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Activos — 119 SKUs (28.33%)</c:v>
                </c:pt>
                <c:pt idx="1">
                  <c:v>Plata muerta — 301 SKUs (71.67%)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119</c:v>
                </c:pt>
                <c:pt idx="1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7A-496D-ACE7-93E70C18DA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32946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Capital de plata muerta por familia de material ($ millones COP)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inerte ($M COP)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41A47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Adhesivos</c:v>
                </c:pt>
                <c:pt idx="1">
                  <c:v>Tubería</c:v>
                </c:pt>
                <c:pt idx="2">
                  <c:v>Empaques</c:v>
                </c:pt>
                <c:pt idx="3">
                  <c:v>Correderas</c:v>
                </c:pt>
                <c:pt idx="4">
                  <c:v>Pinturas</c:v>
                </c:pt>
                <c:pt idx="5">
                  <c:v>Tornillería</c:v>
                </c:pt>
                <c:pt idx="6">
                  <c:v>Láminas</c:v>
                </c:pt>
                <c:pt idx="7">
                  <c:v>Vidrios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675</c:v>
                </c:pt>
                <c:pt idx="1">
                  <c:v>596</c:v>
                </c:pt>
                <c:pt idx="2">
                  <c:v>451</c:v>
                </c:pt>
                <c:pt idx="3">
                  <c:v>448</c:v>
                </c:pt>
                <c:pt idx="4">
                  <c:v>408</c:v>
                </c:pt>
                <c:pt idx="5">
                  <c:v>364</c:v>
                </c:pt>
                <c:pt idx="6">
                  <c:v>311</c:v>
                </c:pt>
                <c:pt idx="7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23-4F5D-B75B-8013084707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946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23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OPERACIONAL  ·  FASE E1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la Gestión de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Inventarios y Abastecimiento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certificada con datos saneados y dictamen pericial sobre las quejas gerenciales de desabastecimiento e inventario inerte.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73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— Mobiliario Metálico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4617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AUDITADO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4873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meses (jul. 2024 – mar. 2026)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617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73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certificada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07992"/>
            <a:ext cx="1033272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4.0 / Énfasis 2 — Universidad de Medellín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demostrar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ejecutivo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585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quejas de la Junta, confirmadas o refutadas con datos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562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874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saneamiento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2585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depuraron 21 meses de transacciones reales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107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29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1 — Lámina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1304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agota el insumo crítico en planta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4107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429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2 — Plata muerta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81304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71.67% del catálogo no rota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651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83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de Línea Base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675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AS-IS vs. TO-BE en pesos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9651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983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3675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de ingeniería para la Fase E2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Veredicto pericial: las dos quejas son 100% ciertas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4767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1 · CONFIRMADA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Desabastecimiento de lámina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620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nos agota la lámina cuando más pedidos tenemos, y llega más tarde de lo que dice el sistema.”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 días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real vs. 12.1 días en el ERP (+71.5%)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2.80%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251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 tiempo (OTIF) de proveedores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937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$3.801.600.000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937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en riesgo por paradas de planta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141A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4767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947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2 · CONFIRMADA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500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 muerta en bodega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620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“Tenemos la bodega llena de cosas que casi no se mueven, mientras nos falta lo importante.”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5204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71.67%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de 420 SKUs sin una sola salida en 21 meses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42062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$3.550.022.309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251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de capital inmovilizado (53.99% del inventario)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48920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4937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$887.505.577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937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/ año drenados en costo de posesión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ENCARGO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crisis de doble vía en la cadena de abastecimiento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fabrica mobiliario metálico para oficina (escritorios, archivadores, estanterías, sillas, módulos y lockers) y abastece clientes corporativos, distribuidores y entidades públicas. La operación enfrenta simultáneamente dos fallas opuestas: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7E4E2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7860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603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Desabastecimiento intempestivo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críticos (lámina) se agotan y detienen las líneas de ensamble, incumpliendo compromisos comerciales.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578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5603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Sobre-inmovilización de capital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46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acumulados en bodega sin registrar movimiento alguno, atrapando efectivo que la empresa necesita.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del encargo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21 meses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24912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70632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destructiva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36592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01184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46904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3FN)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77456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23176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$ COP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89136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53728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99448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pericial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AUDITORÍA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fuentes crudas, defectos reales, saneamiento no destructivo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36576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35808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87368" y="16916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identificados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93608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aplicado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109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057400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maestro_materiales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2057400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087368" y="2057400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nulos de lead time · 24 variantes léxicas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057400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Deducción empírica por historial de compras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11109960" cy="530352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587752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movimientos_inventario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3035808" y="2587752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16.195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87368" y="2587752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fechas "mes 13" · 466 cantidades negativas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587752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formato de fecha · valor absoluto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11109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118104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ordenes_compra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3035808" y="3118104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87368" y="3118104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recepciones en año 2035 · 74 órdenes abiertas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3118104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Reasignación de año · partición en tránsito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3648456"/>
            <a:ext cx="11109960" cy="530352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648456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conteo_fisico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3035808" y="3648456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087368" y="3648456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conteos con signo negativo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3648456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valor absoluto · deduplicación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11109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178808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inventario_inicial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3035808" y="4178808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4178808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— 100% íntegro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4178808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madre inmutable (ancla t₀ = jul. 2024)</a:t>
            </a:r>
            <a:endParaRPr lang="en-US" sz="103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920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SKUs íntegros · 16.195 transacciones con sentido contable · 1.471 OC particionadas · 131 recetas BOM en 3FN · nueva entidad maestro_productos (18 PT). Ningún registro fue descartado.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ARQUITECTURA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relacional normalizado en Supabase (PostgreSQL 3FN)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MAESTRO_PRODUCTOS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productos terminados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737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MAESTRO_MATERIALES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04825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SKUs de materia prima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11880" y="201168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611880" y="12618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0260" y="2377440"/>
            <a:ext cx="0" cy="320040"/>
          </a:xfrm>
          <a:prstGeom prst="line">
            <a:avLst/>
          </a:prstGeom>
          <a:noFill/>
          <a:ln w="15875">
            <a:solidFill>
              <a:srgbClr val="D8D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6460" y="2377440"/>
            <a:ext cx="0" cy="320040"/>
          </a:xfrm>
          <a:prstGeom prst="line">
            <a:avLst/>
          </a:prstGeom>
          <a:noFill/>
          <a:ln w="15875">
            <a:solidFill>
              <a:srgbClr val="D8D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97480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974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131 recetas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0098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PLAN_PRODUCCION — 378 registros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697480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6974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ORDENES_COMPRA — 1.471 OC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300984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30098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MOVIMIENTOS_INVENTARIO — 16.195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3904488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90448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INVENTARIO_INICIAL — tabla madre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4507992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50799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CONTEO_FISICO — 420 SKUs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164592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141A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INTEGRIDAD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75320" y="2258568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5320" y="23317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sintética
</a:t>
            </a:r>
            <a:r>
              <a:rPr lang="en-US" sz="98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id_bom = producto || sku_material, garantiza unicidad en las 131 recetas del BOM.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75320" y="3191256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32644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
</a:t>
            </a:r>
            <a:r>
              <a:rPr lang="en-US" sz="98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 las tablas de hechos impiden transacciones con SKUs huérfanos.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75320" y="4123944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197096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madre inmutable
</a:t>
            </a:r>
            <a:r>
              <a:rPr lang="en-US" sz="98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inventario_inicial ancla el saldo real de partida en t₀ = 1 jul. 2024.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75320" y="5056632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5129784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auxiliar de piso
</a:t>
            </a:r>
            <a:r>
              <a:rPr lang="en-US" sz="98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Inventario_bodega_JEFE audita el descontrol operativo sin reemplazar el Kardex oficial.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4.1 · QUEJA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ERP asume 12 días; el proveedor real tarda 21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6459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6459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+71.5%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6459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desfase: el material llega casi 9 días después de lo previsto por compras.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217920" y="274320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74320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compras de lámina las concentran 3 proveedores (PROV-08, 29, 07) con 0.0% de cumplimiento a tiempo.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7920" y="38404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3840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0.9445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8404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producción de muebles y consumo de lámina — el insumo es crítico, no incidental.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141A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 vs. síntoma:  </a:t>
            </a:r>
            <a:r>
              <a:rPr lang="en-US" sz="115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desabastecimiento en planta es el síntoma. La causa raíz es que el ERP ordena compras con un lead time irreal (12 días) y sin stock de seguridad probabilístico que absorba la variabilidad real de proveedores.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4.1 · QUEJA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97.2% de las órdenes de lámina llegan en mora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4206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74920" y="164592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0" y="1783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1.167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2423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desabastecimiento registrados en los 21 meses auditados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49640" y="164592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9.80 días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423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mora promedio por pedido de lámina (máximo: 39 días)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74920" y="338328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03520" y="35204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21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4160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con caídas del Plan Maestro de Producción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49640" y="338328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0" y="35204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160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/>
            </a:pPr>
            <a:r>
              <a:t>muebles sin producir (lucro cesante: 30% margen de contribución PT)</a:t>
            </a:r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5.3 · QUEJA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 económica al riesgo de parada de planta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$3.801.600.000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en riesgo por horas de mora expuestas a parada de planta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1.056 días de mora acumulada  </a:t>
            </a:r>
            <a:r>
              <a:rPr lang="en-US" sz="13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8 horas-turno/día × $450.000 COP/hora = 8.448 horas-turno expuestas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731520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177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/>
            </a:pPr>
            <a:r>
              <a:t>Impacto financiero dual: $450.000 COP/hora en costos fijos de planta parada + 30% de margen de contribución perdido por 753 muebles no entregados (lucro cesante comercial).</a:t>
            </a:r>
          </a:p>
        </p:txBody>
      </p:sp>
      <p:sp>
        <p:nvSpPr>
          <p:cNvPr id="9" name="Shape 7"/>
          <p:cNvSpPr/>
          <p:nvPr/>
        </p:nvSpPr>
        <p:spPr>
          <a:xfrm>
            <a:off x="8732520" y="19202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154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 → 20.8 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450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ERP vs. real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32520" y="301752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2.80%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3547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proveedores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32520" y="41148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8.448 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6451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acumulado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4.2 · QUEJA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 cada 10 SKUs no tuvieron una sola salida en 21 meses</a:t>
            </a:r>
            <a:endParaRPr lang="en-US" sz="2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48463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69164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 SKUs activos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691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consumen $60.851 millones COP en materiales que sí mueven producción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623560" y="2587752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58775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 SKUs inertes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5877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acumulan 123.396 unidades — el saldo físico de marzo 2026 es idéntico al de julio 2024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5623560" y="3483864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48386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materias primas (7.14%)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48386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mueven el 80.16% del valor consumido — Pareto Clase A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5623560" y="4379976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437997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SKUs Clase C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3799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aportan &lt;5% a manufactura pero absorben 58.13% del espacio y capital</a:t>
            </a:r>
            <a:endParaRPr lang="en-US" sz="103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4.2 · QUEJA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$3.550 millones COP inmovilizados en las 8 familias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11247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7E4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864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componente concentra la falla: las 8 familias tienen plata muerta — la causa raíz es estructural, no puntual.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5.3 · QUEJA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inventario tarda más de 2 años en rotar una sola vez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0.4956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veces/año — Índice de Rotación (ITR)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6-8 veces/año en la industria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736.5 días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606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cobertura (DSI) — 24.5 meses de stock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meta razonable de 60 días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$887.505.577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8862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/ año en costo de posesión (H = 25%: oportunidad, bodegaje, seguros, deterioro)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994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$1.553.134.760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5994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ya drenados de forma acumulada en los 21 meses evaluados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1266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$117.680.000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31266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en gasto administrativo por emisión de 1.471 órdenes de compra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· SCORECARD MAESTRO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Base (AS-IS) vs. meta de optimización (TO-BE)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691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(AS-IS)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691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(TO-BE)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de lámina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2.80%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95.00%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194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-92.2 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1109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Desfase de lead time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+8.66 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651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+71.5%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MPS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90.5%*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99.50%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19/21 meses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1109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566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Rotación (ITR)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0.4956 x/año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6.00 x/año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3566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-91.7%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Cobertura (DSI)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736.5 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60.00 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4023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+676.5 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11109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 muerta / inventario</a:t>
            </a:r>
            <a:endParaRPr lang="en-US" sz="1080" dirty="0"/>
          </a:p>
        </p:txBody>
      </p:sp>
      <p:sp>
        <p:nvSpPr>
          <p:cNvPr id="36" name="Text 34"/>
          <p:cNvSpPr txBox="1"/>
          <p:nvPr/>
        </p:nvSpPr>
        <p:spPr>
          <a:xfrm>
            <a:off x="42976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53.99%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5.00%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4480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+48.99 pp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9377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937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sin movimiento</a:t>
            </a:r>
            <a:endParaRPr lang="en-US" sz="1080" dirty="0"/>
          </a:p>
        </p:txBody>
      </p:sp>
      <p:sp>
        <p:nvSpPr>
          <p:cNvPr id="41" name="Text 39"/>
          <p:cNvSpPr txBox="1"/>
          <p:nvPr/>
        </p:nvSpPr>
        <p:spPr>
          <a:xfrm>
            <a:off x="429768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71.67%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869680" y="4937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SKUs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48640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Cumplimiento del Plan Maestro con caídas en 19 de 21 meses evaluados.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 · FASE E2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de ingeniería para la siguiente fase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49240" cy="4572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1 · Abastecimiento y lámina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2951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Lead Time en el ERP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968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12.1 a 21 días reales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77240" y="32644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369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Reorden dinámico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 = d̄·LT̄ + SS probabilístico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77240" y="4233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seguridad ante doble variabilidad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354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900"/>
            </a:pPr>
            <a:r>
              <a:t>CSL óptimo con cu = 30% margen PT vs co = 25% anual (H)</a:t>
            </a:r>
          </a:p>
        </p:txBody>
      </p:sp>
      <p:sp>
        <p:nvSpPr>
          <p:cNvPr id="19" name="Shape 17"/>
          <p:cNvSpPr/>
          <p:nvPr/>
        </p:nvSpPr>
        <p:spPr>
          <a:xfrm>
            <a:off x="777240" y="52029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202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1755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SLA con penalización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5046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proveedores críticos PROV-08 y PROV-29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172200" y="16459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645920"/>
            <a:ext cx="5349240" cy="4572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16459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2 · Plata muerta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22951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Monetización inmediata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5968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a proveedores y remate (15-20% dto.)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400800" y="32644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2369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Racionalización de catálogo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420 a ≤ 120 SKUs homologados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400800" y="4233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diferenciada Clase A/B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45354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(Q,R) con EOQ para 30 SKUs Clase A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6400800" y="52029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0" y="5202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51755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Clase C bajo MTO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55046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make-to-order, sin inventario especulativo</a:t>
            </a:r>
            <a:endParaRPr lang="en-US" sz="103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limpios, arquitectura 3FN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una Línea Base en pesos reales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quejas de la Gerencia quedan confirmadas al 100% con evidencia transaccional. Hoy entregamos el diagnóstico y la Línea Base contra la cual mediremos la optimización en la Fase E2.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904488"/>
            <a:ext cx="67665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$3.801.600.000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en riesgo — Queja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67665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07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$3.550.022.309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inmovilizados — Queja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965192"/>
            <a:ext cx="67665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38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$887.505.577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0383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/ año de drenaje continuo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quedamos atentos a las preguntas de la Junta Directiva y el jurado evaluador.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1858</Words>
  <Application>Microsoft Office PowerPoint</Application>
  <PresentationFormat>Panorámica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 De Jesus</cp:lastModifiedBy>
  <cp:revision>1</cp:revision>
  <dcterms:created xsi:type="dcterms:W3CDTF">2026-09-07T20:09:05Z</dcterms:created>
  <dcterms:modified xsi:type="dcterms:W3CDTF">2026-09-07T22:55:51Z</dcterms:modified>
</cp:coreProperties>
</file>