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1A47"/>
                </a:solidFill>
                <a:latin typeface="Arial"/>
              </a:rPr>
              <a:t>Lead time declarado vs. real (días)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Días de lead time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261E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LT en el ERP</c:v>
                  </c:pt>
                  <c:pt idx="1">
                    <c:v>LT real (proveedores)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12.11</c:v>
                </c:pt>
                <c:pt idx="1">
                  <c:v>20.78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329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1A47"/>
                </a:solidFill>
                <a:latin typeface="Arial"/>
              </a:rPr>
              <a:t>OTIF de lámina — 107 OC cerradas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OTIF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B52"/>
              </a:solidFill>
              <a:effectLst/>
            </c:spPr>
          </c:dPt>
          <c:dPt>
            <c:idx val="1"/>
            <c:bubble3D val="0"/>
            <c:spPr>
              <a:solidFill>
                <a:srgbClr val="B3261E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 tiempo (3 OC)</c:v>
                </c:pt>
                <c:pt idx="1">
                  <c:v>En mora (104 OC)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2.8</c:v>
                </c:pt>
                <c:pt idx="1">
                  <c:v>97.2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23294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1A47"/>
                </a:solidFill>
                <a:latin typeface="Arial"/>
              </a:rPr>
              <a:t>Composición del catálogo (420 SKUs)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Catálogo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6B52"/>
              </a:solidFill>
              <a:effectLst/>
            </c:spPr>
          </c:dPt>
          <c:dPt>
            <c:idx val="1"/>
            <c:bubble3D val="0"/>
            <c:spPr>
              <a:solidFill>
                <a:srgbClr val="B3261E"/>
              </a:solidFill>
              <a:effectLst/>
            </c:spPr>
          </c:dPt>
          <c:dLbls>
            <c:dLbl>
              <c:idx val="0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.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.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Activos — 119 SKUs (28.33%)</c:v>
                </c:pt>
                <c:pt idx="1">
                  <c:v>Plata muerta — 301 SKUs (71.67%)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119</c:v>
                </c:pt>
                <c:pt idx="1">
                  <c:v>301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>
              <a:solidFill>
                <a:srgbClr val="232946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41A47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41A47"/>
                </a:solidFill>
                <a:latin typeface="Arial"/>
              </a:rPr>
              <a:t>Capital de plata muerta por familia de material ($ millones COP)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Capital inerte ($M COP)</c:v>
                </c:pt>
              </c:strCache>
            </c:strRef>
          </c:tx>
          <c:spPr>
            <a:solidFill>
              <a:srgbClr val="B3261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41A47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Adhesivos</c:v>
                  </c:pt>
                  <c:pt idx="1">
                    <c:v>Tubería</c:v>
                  </c:pt>
                  <c:pt idx="2">
                    <c:v>Empaques</c:v>
                  </c:pt>
                  <c:pt idx="3">
                    <c:v>Correderas</c:v>
                  </c:pt>
                  <c:pt idx="4">
                    <c:v>Pinturas</c:v>
                  </c:pt>
                  <c:pt idx="5">
                    <c:v>Tornillería</c:v>
                  </c:pt>
                  <c:pt idx="6">
                    <c:v>Láminas</c:v>
                  </c:pt>
                  <c:pt idx="7">
                    <c:v>Vidrios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675</c:v>
                </c:pt>
                <c:pt idx="1">
                  <c:v>596</c:v>
                </c:pt>
                <c:pt idx="2">
                  <c:v>451</c:v>
                </c:pt>
                <c:pt idx="3">
                  <c:v>448</c:v>
                </c:pt>
                <c:pt idx="4">
                  <c:v>408</c:v>
                </c:pt>
                <c:pt idx="5">
                  <c:v>364</c:v>
                </c:pt>
                <c:pt idx="6">
                  <c:v>311</c:v>
                </c:pt>
                <c:pt idx="7">
                  <c:v>293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41A47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23294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chart" Target="..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chart" Target="..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chart" Target="..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926080"/>
            <a:ext cx="6400800" cy="64008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2011680"/>
            <a:ext cx="4572000" cy="4572000"/>
          </a:xfrm>
          <a:prstGeom prst="ellipse">
            <a:avLst/>
          </a:prstGeom>
          <a:solidFill>
            <a:srgbClr val="1E2761">
              <a:alpha val="45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371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OPERACIONAL  ·  FASE E1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1828800"/>
            <a:ext cx="98755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de la Gestión de</a:t>
            </a:r>
            <a:endParaRPr lang="en-US" sz="40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Inventarios y Abastecimiento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7863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Diagnóstico y Línea Base con datos reales sobre las quejas de desabastecimiento en planta y materiales sin rotación en bodega.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822960" y="4617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EMPRESA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4873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— Mobiliario Metálico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160520" y="4617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HORIZONTE AUDITADO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60520" y="4873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meses (jul. 2024 – mar. 2026)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7498080" y="4617720"/>
            <a:ext cx="3108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487375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 certificada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07992"/>
            <a:ext cx="1033272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62636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Producción 4.0 / Énfasis 2 — Universidad de Medellín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789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A4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vamos a demostrar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562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8745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Conclusiones clave</a:t>
            </a:r>
          </a:p>
        </p:txBody>
      </p:sp>
      <p:sp>
        <p:nvSpPr>
          <p:cNvPr id="7" name="Text 5"/>
          <p:cNvSpPr txBox="1"/>
          <p:nvPr/>
        </p:nvSpPr>
        <p:spPr>
          <a:xfrm>
            <a:off x="1600200" y="225856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Qué pasa con las dos quejas de la empresa</a:t>
            </a:r>
          </a:p>
        </p:txBody>
      </p:sp>
      <p:sp>
        <p:nvSpPr>
          <p:cNvPr id="8" name="Shape 6"/>
          <p:cNvSpPr/>
          <p:nvPr/>
        </p:nvSpPr>
        <p:spPr>
          <a:xfrm>
            <a:off x="617220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0" y="185623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7223760" y="187452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Limpieza de datos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7223760" y="225856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Cómo se corrigieron los errores en los 21 meses de registros</a:t>
            </a:r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34107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4290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Queja 1 — Lámina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1600200" y="381304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Por qué se agota el material principal en la fábrica</a:t>
            </a:r>
          </a:p>
        </p:txBody>
      </p:sp>
      <p:sp>
        <p:nvSpPr>
          <p:cNvPr id="16" name="Shape 14"/>
          <p:cNvSpPr/>
          <p:nvPr/>
        </p:nvSpPr>
        <p:spPr>
          <a:xfrm>
            <a:off x="6172200" y="3246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0" y="341071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7223760" y="342900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Queja 2 — Plata muerta</a:t>
            </a:r>
          </a:p>
        </p:txBody>
      </p:sp>
      <p:sp>
        <p:nvSpPr>
          <p:cNvPr id="19" name="Text 17"/>
          <p:cNvSpPr txBox="1"/>
          <p:nvPr/>
        </p:nvSpPr>
        <p:spPr>
          <a:xfrm>
            <a:off x="7223760" y="381304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Por qué el 71.7% del catálogo no tiene movimiento</a:t>
            </a:r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9651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83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Tablero de costos</a:t>
            </a:r>
          </a:p>
        </p:txBody>
      </p:sp>
      <p:sp>
        <p:nvSpPr>
          <p:cNvPr id="23" name="Text 21"/>
          <p:cNvSpPr txBox="1"/>
          <p:nvPr/>
        </p:nvSpPr>
        <p:spPr>
          <a:xfrm>
            <a:off x="1600200" y="536752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Indicadores actuales vs. metas en pesos</a:t>
            </a:r>
          </a:p>
        </p:txBody>
      </p:sp>
      <p:sp>
        <p:nvSpPr>
          <p:cNvPr id="24" name="Shape 22"/>
          <p:cNvSpPr/>
          <p:nvPr/>
        </p:nvSpPr>
        <p:spPr>
          <a:xfrm>
            <a:off x="6172200" y="480060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400800" y="4965192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AB4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 txBox="1"/>
          <p:nvPr/>
        </p:nvSpPr>
        <p:spPr>
          <a:xfrm>
            <a:off x="7223760" y="498348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Plan de mejora</a:t>
            </a:r>
          </a:p>
        </p:txBody>
      </p:sp>
      <p:sp>
        <p:nvSpPr>
          <p:cNvPr id="27" name="Text 25"/>
          <p:cNvSpPr txBox="1"/>
          <p:nvPr/>
        </p:nvSpPr>
        <p:spPr>
          <a:xfrm>
            <a:off x="7223760" y="5367528"/>
            <a:ext cx="4069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Soluciones y pasos a seguir para la Fase E2</a:t>
            </a:r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RESUMEN EJECUTIVO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Resumen ejecutivo: las dos quejas son 100% reales y comprobadas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160520"/>
          </a:xfrm>
          <a:prstGeom prst="roundRect">
            <a:avLst>
              <a:gd name="adj" fmla="val 1538"/>
            </a:avLst>
          </a:prstGeom>
          <a:solidFill>
            <a:srgbClr val="141A47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4767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476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 1 · CONFIRMADA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68680" y="23500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Desabastecimiento de lámina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8620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“Se nos agota la lámina cuando más pedidos tenemos, y llega más tarde de lo que dice el sistema.”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868680" y="35204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20.8 días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3063240" y="3566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Tiempo de entrega real: 20.8 días vs. 12.1 días en el sistema (+71.5%)</a:t>
            </a:r>
          </a:p>
        </p:txBody>
      </p:sp>
      <p:sp>
        <p:nvSpPr>
          <p:cNvPr id="12" name="Shape 10"/>
          <p:cNvSpPr/>
          <p:nvPr/>
        </p:nvSpPr>
        <p:spPr>
          <a:xfrm>
            <a:off x="868680" y="42062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4251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2.80%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3063240" y="4251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Pedidos de lámina entregados a tiempo: solo 2.80%</a:t>
            </a:r>
          </a:p>
        </p:txBody>
      </p:sp>
      <p:sp>
        <p:nvSpPr>
          <p:cNvPr id="15" name="Shape 13"/>
          <p:cNvSpPr/>
          <p:nvPr/>
        </p:nvSpPr>
        <p:spPr>
          <a:xfrm>
            <a:off x="868680" y="48920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4937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$3.801.600.000</a:t>
            </a:r>
            <a:endParaRPr lang="en-US" sz="1550" dirty="0"/>
          </a:p>
        </p:txBody>
      </p:sp>
      <p:sp>
        <p:nvSpPr>
          <p:cNvPr id="17" name="Text 15"/>
          <p:cNvSpPr txBox="1"/>
          <p:nvPr/>
        </p:nvSpPr>
        <p:spPr>
          <a:xfrm>
            <a:off x="3063240" y="4937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en riesgo por paradas en la fábrica</a:t>
            </a:r>
          </a:p>
        </p:txBody>
      </p:sp>
      <p:sp>
        <p:nvSpPr>
          <p:cNvPr id="18" name="Shape 16"/>
          <p:cNvSpPr/>
          <p:nvPr/>
        </p:nvSpPr>
        <p:spPr>
          <a:xfrm>
            <a:off x="6172200" y="1691640"/>
            <a:ext cx="5349240" cy="4160520"/>
          </a:xfrm>
          <a:prstGeom prst="roundRect">
            <a:avLst>
              <a:gd name="adj" fmla="val 1538"/>
            </a:avLst>
          </a:prstGeom>
          <a:solidFill>
            <a:srgbClr val="141A47"/>
          </a:solidFill>
          <a:ln/>
        </p:spPr>
      </p:sp>
      <p:sp>
        <p:nvSpPr>
          <p:cNvPr id="19" name="Shape 17"/>
          <p:cNvSpPr/>
          <p:nvPr/>
        </p:nvSpPr>
        <p:spPr>
          <a:xfrm>
            <a:off x="6492240" y="1947672"/>
            <a:ext cx="2468880" cy="310896"/>
          </a:xfrm>
          <a:prstGeom prst="roundRect">
            <a:avLst>
              <a:gd name="adj" fmla="val 50000"/>
            </a:avLst>
          </a:prstGeom>
          <a:solidFill>
            <a:srgbClr val="B3261E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92240" y="1947672"/>
            <a:ext cx="24688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QUEJA 2 · CONFIRMADA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6492240" y="2350008"/>
            <a:ext cx="4709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Plata muerta en bodega</a:t>
            </a:r>
            <a:endParaRPr lang="en-US" sz="1900" dirty="0"/>
          </a:p>
        </p:txBody>
      </p:sp>
      <p:sp>
        <p:nvSpPr>
          <p:cNvPr id="22" name="Text 20"/>
          <p:cNvSpPr txBox="1"/>
          <p:nvPr/>
        </p:nvSpPr>
        <p:spPr>
          <a:xfrm>
            <a:off x="6492240" y="2862072"/>
            <a:ext cx="4709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i="1" dirty="0">
                <a:solidFill>
                  <a:srgbClr val="AEB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“Tenemos la bodega llena de cosas que casi no se mueven, mientras nos falta lo importante.”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92240" y="35204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92240" y="35661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71.67%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686800" y="35661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301 de 420 materiales sin ningún uso en 21 meses</a:t>
            </a:r>
          </a:p>
        </p:txBody>
      </p:sp>
      <p:sp>
        <p:nvSpPr>
          <p:cNvPr id="26" name="Shape 24"/>
          <p:cNvSpPr/>
          <p:nvPr/>
        </p:nvSpPr>
        <p:spPr>
          <a:xfrm>
            <a:off x="6492240" y="42062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492240" y="42519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$3.550.022.309</a:t>
            </a:r>
            <a:endParaRPr lang="en-US" sz="1550" dirty="0"/>
          </a:p>
        </p:txBody>
      </p:sp>
      <p:sp>
        <p:nvSpPr>
          <p:cNvPr id="28" name="Text 26"/>
          <p:cNvSpPr txBox="1"/>
          <p:nvPr/>
        </p:nvSpPr>
        <p:spPr>
          <a:xfrm>
            <a:off x="8686800" y="42519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en materiales guardados sin rotar (53.99% del inventario)</a:t>
            </a:r>
          </a:p>
        </p:txBody>
      </p:sp>
      <p:sp>
        <p:nvSpPr>
          <p:cNvPr id="29" name="Shape 27"/>
          <p:cNvSpPr/>
          <p:nvPr/>
        </p:nvSpPr>
        <p:spPr>
          <a:xfrm>
            <a:off x="6492240" y="4892040"/>
            <a:ext cx="470916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492240" y="4937760"/>
            <a:ext cx="2148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$887.505.577</a:t>
            </a:r>
            <a:endParaRPr lang="en-US" sz="1550" dirty="0"/>
          </a:p>
        </p:txBody>
      </p:sp>
      <p:sp>
        <p:nvSpPr>
          <p:cNvPr id="31" name="Text 29"/>
          <p:cNvSpPr txBox="1"/>
          <p:nvPr/>
        </p:nvSpPr>
        <p:spPr>
          <a:xfrm>
            <a:off x="8686800" y="493776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al año en costos de mantener ese inventario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DEL ENCARGO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Una situación doble en la operación de la empresa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508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fabrica mobiliario metálico para oficina (escritorios, archivadores, estanterías, sillas, módulos y lockers) y abastece clientes corporativos, distribuidores y entidades públicas. La operación enfrenta simultáneamente dos fallas opuestas: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28600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7E4E2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78608"/>
            <a:ext cx="502920" cy="502920"/>
          </a:xfrm>
          <a:prstGeom prst="ellipse">
            <a:avLst/>
          </a:prstGeom>
          <a:solidFill>
            <a:srgbClr val="B3261E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25603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Falta de material en planta</a:t>
            </a:r>
          </a:p>
        </p:txBody>
      </p:sp>
      <p:sp>
        <p:nvSpPr>
          <p:cNvPr id="9" name="Text 7"/>
          <p:cNvSpPr txBox="1"/>
          <p:nvPr/>
        </p:nvSpPr>
        <p:spPr>
          <a:xfrm>
            <a:off x="868680" y="3246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La lámina se agota y frena las líneas de ensamble, impidiendo cumplir las entregas a clientes.</a:t>
            </a:r>
          </a:p>
        </p:txBody>
      </p:sp>
      <p:sp>
        <p:nvSpPr>
          <p:cNvPr id="10" name="Shape 8"/>
          <p:cNvSpPr/>
          <p:nvPr/>
        </p:nvSpPr>
        <p:spPr>
          <a:xfrm>
            <a:off x="6172200" y="2286000"/>
            <a:ext cx="5349240" cy="2286000"/>
          </a:xfrm>
          <a:prstGeom prst="roundRect">
            <a:avLst>
              <a:gd name="adj" fmla="val 2800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92240" y="2578608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92240" y="257860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2560320"/>
            <a:ext cx="4069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Exceso de material guardado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6492240" y="3246120"/>
            <a:ext cx="4709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Materiales acumulados en bodega sin ningún movimiento, atrapando dinero que la empresa necesita.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548640" y="48463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Paso a paso del trabajo</a:t>
            </a:r>
          </a:p>
        </p:txBody>
      </p:sp>
      <p:sp>
        <p:nvSpPr>
          <p:cNvPr id="16" name="Shape 14"/>
          <p:cNvSpPr/>
          <p:nvPr/>
        </p:nvSpPr>
        <p:spPr>
          <a:xfrm>
            <a:off x="548640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t>Datos reales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t>de 21 meses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2560320" y="52578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2724912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770632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t>Limpieza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t>sin borrar datos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4736592" y="52578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4901184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946904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t>PostgreSQL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t>base ordenada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912864" y="52578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077456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123176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t>Costos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t>en $ COP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089136" y="5257800"/>
            <a:ext cx="16459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9253728" y="5257800"/>
            <a:ext cx="2011680" cy="777240"/>
          </a:xfrm>
          <a:prstGeom prst="roundRect">
            <a:avLst>
              <a:gd name="adj" fmla="val 7059"/>
            </a:avLst>
          </a:prstGeom>
          <a:solidFill>
            <a:srgbClr val="141A47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299448" y="525780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t>Diagnóstico</a:t>
            </a:r>
            <a:endParaRPr lang="en-US" sz="1100" dirty="0"/>
          </a:p>
          <a:p>
            <a:pPr algn="ctr" indent="0" marL="0">
              <a:lnSpc>
                <a:spcPct val="105000"/>
              </a:lnSpc>
              <a:buNone/>
            </a:pPr>
            <a:r>
              <a:t>claro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2 · AUDITORÍA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Revisión de los 8 archivos de datos y corrección de errores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36576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9164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3035808" y="16916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4087368" y="1691640"/>
            <a:ext cx="4069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Defectos identificados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293608" y="1691640"/>
            <a:ext cx="3337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aplicado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057400"/>
            <a:ext cx="11109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2057400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maestro_materiales</a:t>
            </a:r>
            <a:endParaRPr lang="en-US" sz="1030" dirty="0"/>
          </a:p>
        </p:txBody>
      </p:sp>
      <p:sp>
        <p:nvSpPr>
          <p:cNvPr id="11" name="Text 9"/>
          <p:cNvSpPr txBox="1"/>
          <p:nvPr/>
        </p:nvSpPr>
        <p:spPr>
          <a:xfrm>
            <a:off x="3035808" y="2057400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087368" y="2057400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nulos de lead time · 24 variantes léxicas</a:t>
            </a:r>
            <a:endParaRPr lang="en-US" sz="1030" dirty="0"/>
          </a:p>
        </p:txBody>
      </p:sp>
      <p:sp>
        <p:nvSpPr>
          <p:cNvPr id="13" name="Text 11"/>
          <p:cNvSpPr txBox="1"/>
          <p:nvPr/>
        </p:nvSpPr>
        <p:spPr>
          <a:xfrm>
            <a:off x="8293608" y="2057400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Calculado con el promedio de compras anteriores</a:t>
            </a:r>
          </a:p>
        </p:txBody>
      </p:sp>
      <p:sp>
        <p:nvSpPr>
          <p:cNvPr id="14" name="Shape 12"/>
          <p:cNvSpPr/>
          <p:nvPr/>
        </p:nvSpPr>
        <p:spPr>
          <a:xfrm>
            <a:off x="548640" y="2587752"/>
            <a:ext cx="11109960" cy="530352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587752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movimientos_inventario</a:t>
            </a:r>
            <a:endParaRPr lang="en-US" sz="1030" dirty="0"/>
          </a:p>
        </p:txBody>
      </p:sp>
      <p:sp>
        <p:nvSpPr>
          <p:cNvPr id="16" name="Text 14"/>
          <p:cNvSpPr txBox="1"/>
          <p:nvPr/>
        </p:nvSpPr>
        <p:spPr>
          <a:xfrm>
            <a:off x="3035808" y="2587752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16.195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087368" y="2587752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fechas "mes 13" · 466 cantidades negativas</a:t>
            </a:r>
            <a:endParaRPr lang="en-US" sz="103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587752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Ajuste de formato de fecha y valores en positivo</a:t>
            </a:r>
          </a:p>
        </p:txBody>
      </p:sp>
      <p:sp>
        <p:nvSpPr>
          <p:cNvPr id="19" name="Shape 17"/>
          <p:cNvSpPr/>
          <p:nvPr/>
        </p:nvSpPr>
        <p:spPr>
          <a:xfrm>
            <a:off x="548640" y="3118104"/>
            <a:ext cx="11109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3118104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ordenes_compra</a:t>
            </a:r>
            <a:endParaRPr lang="en-US" sz="1030" dirty="0"/>
          </a:p>
        </p:txBody>
      </p:sp>
      <p:sp>
        <p:nvSpPr>
          <p:cNvPr id="21" name="Text 19"/>
          <p:cNvSpPr txBox="1"/>
          <p:nvPr/>
        </p:nvSpPr>
        <p:spPr>
          <a:xfrm>
            <a:off x="3035808" y="3118104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1.471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087368" y="3118104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recepciones en año 2035 · 74 órdenes abiertas</a:t>
            </a:r>
            <a:endParaRPr lang="en-US" sz="1030" dirty="0"/>
          </a:p>
        </p:txBody>
      </p:sp>
      <p:sp>
        <p:nvSpPr>
          <p:cNvPr id="23" name="Text 21"/>
          <p:cNvSpPr txBox="1"/>
          <p:nvPr/>
        </p:nvSpPr>
        <p:spPr>
          <a:xfrm>
            <a:off x="8293608" y="3118104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Ajuste de año real y órdenes en camino</a:t>
            </a:r>
          </a:p>
        </p:txBody>
      </p:sp>
      <p:sp>
        <p:nvSpPr>
          <p:cNvPr id="24" name="Shape 22"/>
          <p:cNvSpPr/>
          <p:nvPr/>
        </p:nvSpPr>
        <p:spPr>
          <a:xfrm>
            <a:off x="548640" y="3648456"/>
            <a:ext cx="11109960" cy="530352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3648456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conteo_fisico</a:t>
            </a:r>
            <a:endParaRPr lang="en-US" sz="1030" dirty="0"/>
          </a:p>
        </p:txBody>
      </p:sp>
      <p:sp>
        <p:nvSpPr>
          <p:cNvPr id="26" name="Text 24"/>
          <p:cNvSpPr txBox="1"/>
          <p:nvPr/>
        </p:nvSpPr>
        <p:spPr>
          <a:xfrm>
            <a:off x="3035808" y="3648456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4087368" y="3648456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 conteos con signo negativo</a:t>
            </a:r>
            <a:endParaRPr lang="en-US" sz="1030" dirty="0"/>
          </a:p>
        </p:txBody>
      </p:sp>
      <p:sp>
        <p:nvSpPr>
          <p:cNvPr id="28" name="Text 26"/>
          <p:cNvSpPr txBox="1"/>
          <p:nvPr/>
        </p:nvSpPr>
        <p:spPr>
          <a:xfrm>
            <a:off x="8293608" y="3648456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Valores en positivo y eliminación de duplicados</a:t>
            </a:r>
          </a:p>
        </p:txBody>
      </p:sp>
      <p:sp>
        <p:nvSpPr>
          <p:cNvPr id="29" name="Shape 27"/>
          <p:cNvSpPr/>
          <p:nvPr/>
        </p:nvSpPr>
        <p:spPr>
          <a:xfrm>
            <a:off x="548640" y="4178808"/>
            <a:ext cx="11109960" cy="530352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58368" y="4178808"/>
            <a:ext cx="22128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b="1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inventario_inicial</a:t>
            </a:r>
            <a:endParaRPr lang="en-US" sz="1030" dirty="0"/>
          </a:p>
        </p:txBody>
      </p:sp>
      <p:sp>
        <p:nvSpPr>
          <p:cNvPr id="31" name="Text 29"/>
          <p:cNvSpPr txBox="1"/>
          <p:nvPr/>
        </p:nvSpPr>
        <p:spPr>
          <a:xfrm>
            <a:off x="3035808" y="4178808"/>
            <a:ext cx="88696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420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087368" y="4178808"/>
            <a:ext cx="40416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030" dirty="0">
                <a:solidFill>
                  <a:srgbClr val="232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Ninguno — 100% íntegro</a:t>
            </a:r>
            <a:endParaRPr lang="en-US" sz="1030" dirty="0"/>
          </a:p>
        </p:txBody>
      </p:sp>
      <p:sp>
        <p:nvSpPr>
          <p:cNvPr id="33" name="Text 31"/>
          <p:cNvSpPr txBox="1"/>
          <p:nvPr/>
        </p:nvSpPr>
        <p:spPr>
          <a:xfrm>
            <a:off x="8293608" y="4178808"/>
            <a:ext cx="331012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Inventario base de partida (1 de julio de 2024)</a:t>
            </a:r>
          </a:p>
        </p:txBody>
      </p:sp>
      <p:sp>
        <p:nvSpPr>
          <p:cNvPr id="34" name="Text 32"/>
          <p:cNvSpPr txBox="1"/>
          <p:nvPr/>
        </p:nvSpPr>
        <p:spPr>
          <a:xfrm>
            <a:off x="548640" y="4892040"/>
            <a:ext cx="11109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Resultado: 440 materiales limpios · 16.195 movimientos válidos · 1.471 compras revisadas · 131 recetas de ensamble · 18 muebles terminados. No se borró ningún registro.</a:t>
            </a:r>
          </a:p>
        </p:txBody>
      </p:sp>
      <p:sp>
        <p:nvSpPr>
          <p:cNvPr id="35" name="Text 3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3 · ARQUITECTURA DE DATOS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Base de datos organizada en PostgreSQL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737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MAESTRO_PRODUCTOS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04825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productos terminados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4434840" y="1645920"/>
            <a:ext cx="3063240" cy="731520"/>
          </a:xfrm>
          <a:prstGeom prst="roundRect">
            <a:avLst>
              <a:gd name="adj" fmla="val 7500"/>
            </a:avLst>
          </a:prstGeom>
          <a:solidFill>
            <a:srgbClr val="141A47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434840" y="1737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MAESTRO_MATERIALES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4434840" y="2048256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440 SKUs de materia prima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11880" y="2011680"/>
            <a:ext cx="822960" cy="0"/>
          </a:xfrm>
          <a:prstGeom prst="line">
            <a:avLst/>
          </a:prstGeom>
          <a:noFill/>
          <a:ln w="19050">
            <a:solidFill>
              <a:srgbClr val="1E2761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611880" y="1261872"/>
            <a:ext cx="822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</a:t>
            </a:r>
            <a:endParaRPr lang="en-US" sz="8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componentes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080260" y="2377440"/>
            <a:ext cx="0" cy="320040"/>
          </a:xfrm>
          <a:prstGeom prst="line">
            <a:avLst/>
          </a:prstGeom>
          <a:noFill/>
          <a:ln w="15875">
            <a:solidFill>
              <a:srgbClr val="D8DE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66460" y="2377440"/>
            <a:ext cx="0" cy="320040"/>
          </a:xfrm>
          <a:prstGeom prst="line">
            <a:avLst/>
          </a:prstGeom>
          <a:noFill/>
          <a:ln w="15875">
            <a:solidFill>
              <a:srgbClr val="D8DE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2697480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69748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— 131 recetas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300984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85800" y="330098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PLAN_PRODUCCION — 378 registros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34840" y="2697480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0" y="2697480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ORDENES_COMPRA — 1.471 OC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434840" y="3300984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0" y="3300984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MOVIMIENTOS_INVENTARIO — 16.195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434840" y="3904488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0" y="3904488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INVENTARIO_INICIAL — tabla madre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434840" y="4507992"/>
            <a:ext cx="3063240" cy="475488"/>
          </a:xfrm>
          <a:prstGeom prst="roundRect">
            <a:avLst>
              <a:gd name="adj" fmla="val 9615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72000" y="4507992"/>
            <a:ext cx="2788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1A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CONTEO_FISICO — 420 SKUs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8001000" y="1645920"/>
            <a:ext cx="3611880" cy="4709160"/>
          </a:xfrm>
          <a:prstGeom prst="roundRect">
            <a:avLst>
              <a:gd name="adj" fmla="val 1772"/>
            </a:avLst>
          </a:prstGeom>
          <a:solidFill>
            <a:srgbClr val="141A47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275320" y="1874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CÓMO SE ORGANIZÓ LA INFORMACIÓN</a:t>
            </a:r>
          </a:p>
        </p:txBody>
      </p:sp>
      <p:sp>
        <p:nvSpPr>
          <p:cNvPr id="28" name="Shape 26"/>
          <p:cNvSpPr/>
          <p:nvPr/>
        </p:nvSpPr>
        <p:spPr>
          <a:xfrm>
            <a:off x="8275320" y="2258568"/>
            <a:ext cx="306324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275320" y="2331720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Recetas únicas: Se une el mueble con el material para identificar con precisión cada una de las 131 recetas.</a:t>
            </a:r>
          </a:p>
        </p:txBody>
      </p:sp>
      <p:sp>
        <p:nvSpPr>
          <p:cNvPr id="30" name="Shape 28"/>
          <p:cNvSpPr/>
          <p:nvPr/>
        </p:nvSpPr>
        <p:spPr>
          <a:xfrm>
            <a:off x="8275320" y="3191256"/>
            <a:ext cx="306324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275320" y="3264408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Control de materiales: Claves que evitan registrar compras o movimientos de materiales que no existen en el catálogo.</a:t>
            </a:r>
          </a:p>
        </p:txBody>
      </p:sp>
      <p:sp>
        <p:nvSpPr>
          <p:cNvPr id="32" name="Shape 30"/>
          <p:cNvSpPr/>
          <p:nvPr/>
        </p:nvSpPr>
        <p:spPr>
          <a:xfrm>
            <a:off x="8275320" y="4123944"/>
            <a:ext cx="306324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75320" y="4197096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Inventario inicial fijo: Registro del inventario de partida al 1 de julio de 2024 como base de comparación.</a:t>
            </a:r>
          </a:p>
        </p:txBody>
      </p:sp>
      <p:sp>
        <p:nvSpPr>
          <p:cNvPr id="34" name="Shape 32"/>
          <p:cNvSpPr/>
          <p:nvPr/>
        </p:nvSpPr>
        <p:spPr>
          <a:xfrm>
            <a:off x="8275320" y="5056632"/>
            <a:ext cx="3063240" cy="0"/>
          </a:xfrm>
          <a:prstGeom prst="line">
            <a:avLst/>
          </a:prstGeom>
          <a:noFill/>
          <a:ln w="12700">
            <a:solidFill>
              <a:srgbClr val="323A7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275320" y="5129784"/>
            <a:ext cx="3063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Libreta del jefe de bodega: Fuente de campo que muestra las diferencias reales de piso frente al sistema.</a:t>
            </a:r>
          </a:p>
        </p:txBody>
      </p:sp>
      <p:sp>
        <p:nvSpPr>
          <p:cNvPr id="36" name="Text 3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4.1 · QUEJA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El sistema calcula 12 días; el proveedor tarda 21 días reales</a:t>
            </a:r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217920" y="164592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46520" y="164592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+71.5%</a:t>
            </a:r>
            <a:endParaRPr lang="en-US" sz="2100" dirty="0"/>
          </a:p>
        </p:txBody>
      </p:sp>
      <p:sp>
        <p:nvSpPr>
          <p:cNvPr id="7" name="Text 4"/>
          <p:cNvSpPr txBox="1"/>
          <p:nvPr/>
        </p:nvSpPr>
        <p:spPr>
          <a:xfrm>
            <a:off x="8046720" y="164592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 desfase: el material llega casi 9 días después de lo previsto por compras.</a:t>
            </a:r>
          </a:p>
        </p:txBody>
      </p:sp>
      <p:sp>
        <p:nvSpPr>
          <p:cNvPr id="8" name="Shape 5"/>
          <p:cNvSpPr/>
          <p:nvPr/>
        </p:nvSpPr>
        <p:spPr>
          <a:xfrm>
            <a:off x="6217920" y="274320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446520" y="2743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36.4%</a:t>
            </a:r>
            <a:endParaRPr lang="en-US" sz="2100" dirty="0"/>
          </a:p>
        </p:txBody>
      </p:sp>
      <p:sp>
        <p:nvSpPr>
          <p:cNvPr id="10" name="Text 7"/>
          <p:cNvSpPr txBox="1"/>
          <p:nvPr/>
        </p:nvSpPr>
        <p:spPr>
          <a:xfrm>
            <a:off x="8046720" y="274320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 las compras de lámina se concentran en 3 proveedores que nunca entregaron a tiempo (0% cumplimiento).</a:t>
            </a:r>
          </a:p>
        </p:txBody>
      </p:sp>
      <p:sp>
        <p:nvSpPr>
          <p:cNvPr id="11" name="Shape 8"/>
          <p:cNvSpPr/>
          <p:nvPr/>
        </p:nvSpPr>
        <p:spPr>
          <a:xfrm>
            <a:off x="6217920" y="3840480"/>
            <a:ext cx="5257800" cy="960120"/>
          </a:xfrm>
          <a:prstGeom prst="roundRect">
            <a:avLst>
              <a:gd name="adj" fmla="val 5714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446520" y="384048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 = 0.9445</a:t>
            </a:r>
            <a:endParaRPr lang="en-US" sz="2100" dirty="0"/>
          </a:p>
        </p:txBody>
      </p:sp>
      <p:sp>
        <p:nvSpPr>
          <p:cNvPr id="13" name="Text 10"/>
          <p:cNvSpPr txBox="1"/>
          <p:nvPr/>
        </p:nvSpPr>
        <p:spPr>
          <a:xfrm>
            <a:off x="8046720" y="3840480"/>
            <a:ext cx="32004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 relación directa entre la lámina y los muebles producidos: si falta lámina, se frena la planta.</a:t>
            </a:r>
          </a:p>
        </p:txBody>
      </p:sp>
      <p:sp>
        <p:nvSpPr>
          <p:cNvPr id="14" name="Shape 11"/>
          <p:cNvSpPr/>
          <p:nvPr/>
        </p:nvSpPr>
        <p:spPr>
          <a:xfrm>
            <a:off x="548640" y="5120640"/>
            <a:ext cx="11109960" cy="868680"/>
          </a:xfrm>
          <a:prstGeom prst="roundRect">
            <a:avLst>
              <a:gd name="adj" fmla="val 6316"/>
            </a:avLst>
          </a:prstGeom>
          <a:solidFill>
            <a:srgbClr val="141A47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22960" y="51206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Causa del problema: La falta de material en planta es la consecuencia. La causa real es que el sistema pide compras con un tiempo que no existe (12 días) y sin un colchón de seguridad para cubrir retrasos del proveedor.</a:t>
            </a:r>
          </a:p>
        </p:txBody>
      </p:sp>
      <p:sp>
        <p:nvSpPr>
          <p:cNvPr id="16" name="Text 1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4.1 · QUEJA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El 97.2% de los pedidos de lámina llegaron con retraso</a:t>
            </a:r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45920"/>
          <a:ext cx="420624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074920" y="1645920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7E4E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5303520" y="17830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1.167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303520" y="24231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momentos en que la lámina se agotó por completo en los 21 meses</a:t>
            </a:r>
          </a:p>
        </p:txBody>
      </p:sp>
      <p:sp>
        <p:nvSpPr>
          <p:cNvPr id="8" name="Shape 5"/>
          <p:cNvSpPr/>
          <p:nvPr/>
        </p:nvSpPr>
        <p:spPr>
          <a:xfrm>
            <a:off x="8549640" y="1645920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7E4E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778240" y="178308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9.80 días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8778240" y="242316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 retraso promedio por cada pedido de lámina (máximo: 39 días)</a:t>
            </a:r>
          </a:p>
        </p:txBody>
      </p:sp>
      <p:sp>
        <p:nvSpPr>
          <p:cNvPr id="11" name="Shape 8"/>
          <p:cNvSpPr/>
          <p:nvPr/>
        </p:nvSpPr>
        <p:spPr>
          <a:xfrm>
            <a:off x="5074920" y="3383280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7E4E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303520" y="35204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 / 21</a:t>
            </a:r>
            <a:endParaRPr lang="en-US" sz="2600" dirty="0"/>
          </a:p>
        </p:txBody>
      </p:sp>
      <p:sp>
        <p:nvSpPr>
          <p:cNvPr id="13" name="Text 10"/>
          <p:cNvSpPr txBox="1"/>
          <p:nvPr/>
        </p:nvSpPr>
        <p:spPr>
          <a:xfrm>
            <a:off x="5303520" y="4160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meses en que no se alcanzó la meta de producción programada</a:t>
            </a:r>
          </a:p>
        </p:txBody>
      </p:sp>
      <p:sp>
        <p:nvSpPr>
          <p:cNvPr id="14" name="Shape 11"/>
          <p:cNvSpPr/>
          <p:nvPr/>
        </p:nvSpPr>
        <p:spPr>
          <a:xfrm>
            <a:off x="8549640" y="3383280"/>
            <a:ext cx="3246120" cy="1508760"/>
          </a:xfrm>
          <a:prstGeom prst="roundRect">
            <a:avLst>
              <a:gd name="adj" fmla="val 3636"/>
            </a:avLst>
          </a:prstGeom>
          <a:solidFill>
            <a:srgbClr val="F7E4E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8778240" y="3520440"/>
            <a:ext cx="2788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326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753</a:t>
            </a:r>
            <a:endParaRPr lang="en-US" sz="2600" dirty="0"/>
          </a:p>
        </p:txBody>
      </p:sp>
      <p:sp>
        <p:nvSpPr>
          <p:cNvPr id="16" name="Text 13"/>
          <p:cNvSpPr txBox="1"/>
          <p:nvPr/>
        </p:nvSpPr>
        <p:spPr>
          <a:xfrm>
            <a:off x="8778240" y="4160520"/>
            <a:ext cx="2788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muebles que no se pudieron fabricar ni vender (pérdida del 30% de ganancia)</a:t>
            </a:r>
          </a:p>
        </p:txBody>
      </p:sp>
      <p:sp>
        <p:nvSpPr>
          <p:cNvPr id="17" name="Text 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5.3 · QUEJA 1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Riesgo económico por paradas en la fábrica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9659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$3.801.600.000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30175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en riesgo por horas de retraso expuestas a frenar la producción</a:t>
            </a:r>
          </a:p>
        </p:txBody>
      </p:sp>
      <p:sp>
        <p:nvSpPr>
          <p:cNvPr id="6" name="Text 4"/>
          <p:cNvSpPr txBox="1"/>
          <p:nvPr/>
        </p:nvSpPr>
        <p:spPr>
          <a:xfrm>
            <a:off x="594360" y="365760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1.056 días de retraso sumados × 8 horas de turno al día × $450.000 COP/hora = 8.448 horas de trabajo en riesgo</a:t>
            </a:r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731520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48640" y="4617720"/>
            <a:ext cx="7498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Impacto económico doble: $450.000 COP/hora por costos de planta quieta + 30% de margen de ganancia perdido por los 753 muebles que no se pudieron vender.</a:t>
            </a:r>
          </a:p>
        </p:txBody>
      </p:sp>
      <p:sp>
        <p:nvSpPr>
          <p:cNvPr id="9" name="Shape 7"/>
          <p:cNvSpPr/>
          <p:nvPr/>
        </p:nvSpPr>
        <p:spPr>
          <a:xfrm>
            <a:off x="8732520" y="192024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915400" y="201168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12.1 → 20.8 d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8915400" y="245059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Tiempo sistema vs. real</a:t>
            </a:r>
          </a:p>
        </p:txBody>
      </p:sp>
      <p:sp>
        <p:nvSpPr>
          <p:cNvPr id="12" name="Shape 10"/>
          <p:cNvSpPr/>
          <p:nvPr/>
        </p:nvSpPr>
        <p:spPr>
          <a:xfrm>
            <a:off x="8732520" y="301752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915400" y="310896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2.80%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8915400" y="354787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Entregas a tiempo</a:t>
            </a:r>
          </a:p>
        </p:txBody>
      </p:sp>
      <p:sp>
        <p:nvSpPr>
          <p:cNvPr id="15" name="Shape 13"/>
          <p:cNvSpPr/>
          <p:nvPr/>
        </p:nvSpPr>
        <p:spPr>
          <a:xfrm>
            <a:off x="8732520" y="4114800"/>
            <a:ext cx="2926080" cy="96012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915400" y="420624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8.448 h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8915400" y="4645152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Horas en riesgo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4.2 · QUEJA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7 de cada 10 materiales no se usaron ni una sola vez en 21 meses</a:t>
            </a:r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4846320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23560" y="1691640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852160" y="1691640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119 materiales activos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8275320" y="1691640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mueven $60.851 millones COP en lo que realmente fabrica la empresa</a:t>
            </a:r>
          </a:p>
        </p:txBody>
      </p:sp>
      <p:sp>
        <p:nvSpPr>
          <p:cNvPr id="8" name="Shape 5"/>
          <p:cNvSpPr/>
          <p:nvPr/>
        </p:nvSpPr>
        <p:spPr>
          <a:xfrm>
            <a:off x="5623560" y="2587752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852160" y="2587752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301 materiales quietos</a:t>
            </a:r>
          </a:p>
        </p:txBody>
      </p:sp>
      <p:sp>
        <p:nvSpPr>
          <p:cNvPr id="10" name="Text 7"/>
          <p:cNvSpPr txBox="1"/>
          <p:nvPr/>
        </p:nvSpPr>
        <p:spPr>
          <a:xfrm>
            <a:off x="8275320" y="2587752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acumulan 123.396 unidades en bodega sin tocar desde hace casi dos años</a:t>
            </a:r>
          </a:p>
        </p:txBody>
      </p:sp>
      <p:sp>
        <p:nvSpPr>
          <p:cNvPr id="11" name="Shape 8"/>
          <p:cNvSpPr/>
          <p:nvPr/>
        </p:nvSpPr>
        <p:spPr>
          <a:xfrm>
            <a:off x="5623560" y="3483864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852160" y="3483864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Solo 30 materiales (7.1%)</a:t>
            </a:r>
          </a:p>
        </p:txBody>
      </p:sp>
      <p:sp>
        <p:nvSpPr>
          <p:cNvPr id="13" name="Text 10"/>
          <p:cNvSpPr txBox="1"/>
          <p:nvPr/>
        </p:nvSpPr>
        <p:spPr>
          <a:xfrm>
            <a:off x="8275320" y="3483864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mueven el 80.16% de todo lo que consume la fábrica (Materiales Tipo A)</a:t>
            </a:r>
          </a:p>
        </p:txBody>
      </p:sp>
      <p:sp>
        <p:nvSpPr>
          <p:cNvPr id="14" name="Shape 11"/>
          <p:cNvSpPr/>
          <p:nvPr/>
        </p:nvSpPr>
        <p:spPr>
          <a:xfrm>
            <a:off x="5623560" y="4379976"/>
            <a:ext cx="6035040" cy="777240"/>
          </a:xfrm>
          <a:prstGeom prst="roundRect">
            <a:avLst>
              <a:gd name="adj" fmla="val 7059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852160" y="4379976"/>
            <a:ext cx="2331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360 materiales de bajo uso</a:t>
            </a:r>
          </a:p>
        </p:txBody>
      </p:sp>
      <p:sp>
        <p:nvSpPr>
          <p:cNvPr id="16" name="Text 13"/>
          <p:cNvSpPr txBox="1"/>
          <p:nvPr/>
        </p:nvSpPr>
        <p:spPr>
          <a:xfrm>
            <a:off x="8275320" y="4379976"/>
            <a:ext cx="3200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aportan menos del 5% pero ocupan el 58.13% del espacio y del dinero</a:t>
            </a:r>
          </a:p>
        </p:txBody>
      </p:sp>
      <p:sp>
        <p:nvSpPr>
          <p:cNvPr id="17" name="Text 1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4.2 · QUEJA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$3.550 millones COP atrapados en materiales que no rotan</a:t>
            </a:r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00200"/>
          <a:ext cx="11247120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" y="548640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F7E4E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85800" y="54864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El dinero quieto está en todas las familias de materiales: no es un caso aislado, sino una falta general de control en las compras.</a:t>
            </a:r>
          </a:p>
        </p:txBody>
      </p:sp>
      <p:sp>
        <p:nvSpPr>
          <p:cNvPr id="7" name="Text 4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5.3 · QUEJA 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El inventario se demora más de 2 años en salir de bodega</a:t>
            </a:r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0.4956</a:t>
            </a:r>
            <a:endParaRPr lang="en-US" sz="3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606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t>veces al año rota el inventario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t>(tarda 2 años en dar una vuelta vs. 2 meses estándar)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297680" y="1828800"/>
            <a:ext cx="35661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736.5 días</a:t>
            </a:r>
            <a:endParaRPr lang="en-US" sz="3400" dirty="0"/>
          </a:p>
        </p:txBody>
      </p:sp>
      <p:sp>
        <p:nvSpPr>
          <p:cNvPr id="7" name="Text 5"/>
          <p:cNvSpPr txBox="1"/>
          <p:nvPr/>
        </p:nvSpPr>
        <p:spPr>
          <a:xfrm>
            <a:off x="4297680" y="2606040"/>
            <a:ext cx="35661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t>días de inventario guardado</a:t>
            </a:r>
            <a:endParaRPr lang="en-US" sz="1100" dirty="0"/>
          </a:p>
          <a:p>
            <a:pPr indent="0" marL="0">
              <a:lnSpc>
                <a:spcPct val="120000"/>
              </a:lnSpc>
              <a:buNone/>
            </a:pPr>
            <a:r>
              <a:t>(24.5 meses de stock acumulado vs. 60 días meta)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1106424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48640" y="38862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$887.505.577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0" y="3886200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al año en costo de mantener ese inventario (25%: capital, bodegaje, seguros y daño)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548640" y="4599432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$1.553.134.760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0" y="4599432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de pérdidas acumuladas por mantener inventario en los 21 meses</a:t>
            </a:r>
          </a:p>
        </p:txBody>
      </p:sp>
      <p:sp>
        <p:nvSpPr>
          <p:cNvPr id="13" name="Text 11"/>
          <p:cNvSpPr txBox="1"/>
          <p:nvPr/>
        </p:nvSpPr>
        <p:spPr>
          <a:xfrm>
            <a:off x="548640" y="5312664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$117.680.000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5312664"/>
            <a:ext cx="7955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gastados en el trámite administrativo de 1.471 órdenes de compra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5 · SCORECARD MAESTRO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Línea Base: Cómo estamos hoy vs. A dónde queremos llegar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50292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434840" y="1691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Línea Base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(AS-IS)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720840" y="169164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</a:t>
            </a:r>
            <a:endParaRPr lang="en-US" sz="110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(TO-BE)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006840" y="1691640"/>
            <a:ext cx="2606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219456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194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Entregas a tiempo (Lámina)</a:t>
            </a:r>
          </a:p>
        </p:txBody>
      </p:sp>
      <p:sp>
        <p:nvSpPr>
          <p:cNvPr id="11" name="Text 9"/>
          <p:cNvSpPr txBox="1"/>
          <p:nvPr/>
        </p:nvSpPr>
        <p:spPr>
          <a:xfrm>
            <a:off x="42976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2.80%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94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95.00%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194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-92.2 pp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" y="2651760"/>
            <a:ext cx="11109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2651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Retraso en entregas</a:t>
            </a:r>
          </a:p>
        </p:txBody>
      </p:sp>
      <p:sp>
        <p:nvSpPr>
          <p:cNvPr id="16" name="Text 14"/>
          <p:cNvSpPr txBox="1"/>
          <p:nvPr/>
        </p:nvSpPr>
        <p:spPr>
          <a:xfrm>
            <a:off x="42976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+8.66 d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651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 d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869680" y="2651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+71.5%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48640" y="310896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85800" y="31089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Cumplimiento del plan</a:t>
            </a:r>
          </a:p>
        </p:txBody>
      </p:sp>
      <p:sp>
        <p:nvSpPr>
          <p:cNvPr id="21" name="Text 19"/>
          <p:cNvSpPr txBox="1"/>
          <p:nvPr/>
        </p:nvSpPr>
        <p:spPr>
          <a:xfrm>
            <a:off x="42976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90.5%*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31089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99.50%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8869680" y="31089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19/21 meses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566160"/>
            <a:ext cx="11109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85800" y="35661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Rotación de inventario</a:t>
            </a:r>
          </a:p>
        </p:txBody>
      </p:sp>
      <p:sp>
        <p:nvSpPr>
          <p:cNvPr id="26" name="Text 24"/>
          <p:cNvSpPr txBox="1"/>
          <p:nvPr/>
        </p:nvSpPr>
        <p:spPr>
          <a:xfrm>
            <a:off x="42976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0.4956 x/año</a:t>
            </a:r>
            <a:endParaRPr lang="en-US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5661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6.00 x/año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8869680" y="35661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-91.7%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402336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40233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Días de inventario</a:t>
            </a:r>
          </a:p>
        </p:txBody>
      </p:sp>
      <p:sp>
        <p:nvSpPr>
          <p:cNvPr id="31" name="Text 29"/>
          <p:cNvSpPr txBox="1"/>
          <p:nvPr/>
        </p:nvSpPr>
        <p:spPr>
          <a:xfrm>
            <a:off x="42976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736.5 d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583680" y="40233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60.00 d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869680" y="40233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+676.5 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48640" y="4480560"/>
            <a:ext cx="11109960" cy="457200"/>
          </a:xfrm>
          <a:prstGeom prst="rect">
            <a:avLst/>
          </a:prstGeom>
          <a:solidFill>
            <a:srgbClr val="F4F6FC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85800" y="44805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Materiales sin uso</a:t>
            </a:r>
          </a:p>
        </p:txBody>
      </p:sp>
      <p:sp>
        <p:nvSpPr>
          <p:cNvPr id="36" name="Text 34"/>
          <p:cNvSpPr txBox="1"/>
          <p:nvPr/>
        </p:nvSpPr>
        <p:spPr>
          <a:xfrm>
            <a:off x="429768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53.99%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0" y="44805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≤ 5.00%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869680" y="44805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+48.99 pp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48640" y="4937760"/>
            <a:ext cx="1110996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D8DEF2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493776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Catálogo sin rotación</a:t>
            </a:r>
          </a:p>
        </p:txBody>
      </p:sp>
      <p:sp>
        <p:nvSpPr>
          <p:cNvPr id="41" name="Text 39"/>
          <p:cNvSpPr txBox="1"/>
          <p:nvPr/>
        </p:nvSpPr>
        <p:spPr>
          <a:xfrm>
            <a:off x="429768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326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71.67%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6583680" y="493776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E6B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0.00%</a:t>
            </a:r>
            <a:endParaRPr lang="en-US" sz="1100" dirty="0"/>
          </a:p>
        </p:txBody>
      </p:sp>
      <p:sp>
        <p:nvSpPr>
          <p:cNvPr id="43" name="Text 41"/>
          <p:cNvSpPr txBox="1"/>
          <p:nvPr/>
        </p:nvSpPr>
        <p:spPr>
          <a:xfrm>
            <a:off x="8869680" y="4937760"/>
            <a:ext cx="2788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301 SKUs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548640" y="5486400"/>
            <a:ext cx="11109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* Cumplimiento del plan de producción con caídas en 19 de los 21 meses evaluados.</a:t>
            </a:r>
          </a:p>
        </p:txBody>
      </p:sp>
      <p:sp>
        <p:nvSpPr>
          <p:cNvPr id="45" name="Text 43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SECCIÓN 6 · FASE E2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49808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Plan de mejora y soluciones para la Fase E2</a:t>
            </a:r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645920"/>
            <a:ext cx="5349240" cy="4572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6459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QUEJA 1 · Solución para la Lámina</a:t>
            </a:r>
          </a:p>
        </p:txBody>
      </p:sp>
      <p:sp>
        <p:nvSpPr>
          <p:cNvPr id="7" name="Shape 5"/>
          <p:cNvSpPr/>
          <p:nvPr/>
        </p:nvSpPr>
        <p:spPr>
          <a:xfrm>
            <a:off x="777240" y="229514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77240" y="2295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188720" y="22677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Ajustar tiempos en el sistema</a:t>
            </a:r>
          </a:p>
        </p:txBody>
      </p:sp>
      <p:sp>
        <p:nvSpPr>
          <p:cNvPr id="10" name="Text 8"/>
          <p:cNvSpPr txBox="1"/>
          <p:nvPr/>
        </p:nvSpPr>
        <p:spPr>
          <a:xfrm>
            <a:off x="1188720" y="25968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 12 a 21 días reales de entrega</a:t>
            </a:r>
          </a:p>
        </p:txBody>
      </p:sp>
      <p:sp>
        <p:nvSpPr>
          <p:cNvPr id="11" name="Shape 9"/>
          <p:cNvSpPr/>
          <p:nvPr/>
        </p:nvSpPr>
        <p:spPr>
          <a:xfrm>
            <a:off x="777240" y="32644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188720" y="32369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Punto de pedido automático</a:t>
            </a:r>
          </a:p>
        </p:txBody>
      </p:sp>
      <p:sp>
        <p:nvSpPr>
          <p:cNvPr id="14" name="Text 12"/>
          <p:cNvSpPr txBox="1"/>
          <p:nvPr/>
        </p:nvSpPr>
        <p:spPr>
          <a:xfrm>
            <a:off x="118872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pedir a tiempo según el consumo diario y el tiempo de entrega</a:t>
            </a:r>
          </a:p>
        </p:txBody>
      </p:sp>
      <p:sp>
        <p:nvSpPr>
          <p:cNvPr id="15" name="Shape 13"/>
          <p:cNvSpPr/>
          <p:nvPr/>
        </p:nvSpPr>
        <p:spPr>
          <a:xfrm>
            <a:off x="777240" y="42336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7724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18872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Colchón de seguridad adecuado</a:t>
            </a:r>
          </a:p>
        </p:txBody>
      </p:sp>
      <p:sp>
        <p:nvSpPr>
          <p:cNvPr id="18" name="Text 16"/>
          <p:cNvSpPr txBox="1"/>
          <p:nvPr/>
        </p:nvSpPr>
        <p:spPr>
          <a:xfrm>
            <a:off x="1188720" y="45354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subir a 550-700 láminas en meses pico balanceando el 30% de ganancia</a:t>
            </a:r>
          </a:p>
        </p:txBody>
      </p:sp>
      <p:sp>
        <p:nvSpPr>
          <p:cNvPr id="19" name="Shape 17"/>
          <p:cNvSpPr/>
          <p:nvPr/>
        </p:nvSpPr>
        <p:spPr>
          <a:xfrm>
            <a:off x="777240" y="52029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777240" y="5202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88720" y="51755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Acuerdos de entrega con proveedores</a:t>
            </a:r>
          </a:p>
        </p:txBody>
      </p:sp>
      <p:sp>
        <p:nvSpPr>
          <p:cNvPr id="22" name="Text 20"/>
          <p:cNvSpPr txBox="1"/>
          <p:nvPr/>
        </p:nvSpPr>
        <p:spPr>
          <a:xfrm>
            <a:off x="1188720" y="55046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fijar compromisos y seguimiento a los 3 proveedores principales</a:t>
            </a:r>
          </a:p>
        </p:txBody>
      </p:sp>
      <p:sp>
        <p:nvSpPr>
          <p:cNvPr id="23" name="Shape 21"/>
          <p:cNvSpPr/>
          <p:nvPr/>
        </p:nvSpPr>
        <p:spPr>
          <a:xfrm>
            <a:off x="6172200" y="1645920"/>
            <a:ext cx="5349240" cy="4617720"/>
          </a:xfrm>
          <a:prstGeom prst="roundRect">
            <a:avLst>
              <a:gd name="adj" fmla="val 1188"/>
            </a:avLst>
          </a:prstGeom>
          <a:solidFill>
            <a:srgbClr val="F4F6FC"/>
          </a:solidFill>
          <a:ln w="12700">
            <a:solidFill>
              <a:srgbClr val="D8DEF2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172200" y="1645920"/>
            <a:ext cx="5349240" cy="457200"/>
          </a:xfrm>
          <a:prstGeom prst="rect">
            <a:avLst/>
          </a:prstGeom>
          <a:solidFill>
            <a:srgbClr val="141A47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400800" y="1645920"/>
            <a:ext cx="4892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QUEJA 2 · Solución para la Plata Muerta</a:t>
            </a:r>
          </a:p>
        </p:txBody>
      </p:sp>
      <p:sp>
        <p:nvSpPr>
          <p:cNvPr id="26" name="Shape 24"/>
          <p:cNvSpPr/>
          <p:nvPr/>
        </p:nvSpPr>
        <p:spPr>
          <a:xfrm>
            <a:off x="6400800" y="2295144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0" y="229514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6812280" y="2267712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Recuperar dinero en efectivo</a:t>
            </a:r>
          </a:p>
        </p:txBody>
      </p:sp>
      <p:sp>
        <p:nvSpPr>
          <p:cNvPr id="29" name="Text 27"/>
          <p:cNvSpPr txBox="1"/>
          <p:nvPr/>
        </p:nvSpPr>
        <p:spPr>
          <a:xfrm>
            <a:off x="6812280" y="25968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devolver insumos a proveedores y rematar materiales sin uso</a:t>
            </a:r>
          </a:p>
        </p:txBody>
      </p:sp>
      <p:sp>
        <p:nvSpPr>
          <p:cNvPr id="30" name="Shape 28"/>
          <p:cNvSpPr/>
          <p:nvPr/>
        </p:nvSpPr>
        <p:spPr>
          <a:xfrm>
            <a:off x="6400800" y="3264408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400800" y="326440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812280" y="3236976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Simplificar el catálogo</a:t>
            </a:r>
          </a:p>
        </p:txBody>
      </p:sp>
      <p:sp>
        <p:nvSpPr>
          <p:cNvPr id="33" name="Text 31"/>
          <p:cNvSpPr txBox="1"/>
          <p:nvPr/>
        </p:nvSpPr>
        <p:spPr>
          <a:xfrm>
            <a:off x="6812280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reducir de 420 a 120 referencias estándar y compatibles</a:t>
            </a:r>
          </a:p>
        </p:txBody>
      </p:sp>
      <p:sp>
        <p:nvSpPr>
          <p:cNvPr id="34" name="Shape 32"/>
          <p:cNvSpPr/>
          <p:nvPr/>
        </p:nvSpPr>
        <p:spPr>
          <a:xfrm>
            <a:off x="6400800" y="4233672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6400800" y="423367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6812280" y="42062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Compras con lote óptimo (EOQ)</a:t>
            </a:r>
          </a:p>
        </p:txBody>
      </p:sp>
      <p:sp>
        <p:nvSpPr>
          <p:cNvPr id="37" name="Text 35"/>
          <p:cNvSpPr txBox="1"/>
          <p:nvPr/>
        </p:nvSpPr>
        <p:spPr>
          <a:xfrm>
            <a:off x="6812280" y="453542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pedir cantidades exactas para los 30 materiales más usados</a:t>
            </a:r>
          </a:p>
        </p:txBody>
      </p:sp>
      <p:sp>
        <p:nvSpPr>
          <p:cNvPr id="38" name="Shape 36"/>
          <p:cNvSpPr/>
          <p:nvPr/>
        </p:nvSpPr>
        <p:spPr>
          <a:xfrm>
            <a:off x="6400800" y="5202936"/>
            <a:ext cx="292608" cy="29260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0" y="520293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6812280" y="5175504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Materiales especiales bajo pedido</a:t>
            </a:r>
          </a:p>
        </p:txBody>
      </p:sp>
      <p:sp>
        <p:nvSpPr>
          <p:cNvPr id="41" name="Text 39"/>
          <p:cNvSpPr txBox="1"/>
          <p:nvPr/>
        </p:nvSpPr>
        <p:spPr>
          <a:xfrm>
            <a:off x="6812280" y="550468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comprar materiales de poco uso solo cuando el cliente compre</a:t>
            </a:r>
          </a:p>
        </p:txBody>
      </p:sp>
      <p:sp>
        <p:nvSpPr>
          <p:cNvPr id="42" name="Text 40"/>
          <p:cNvSpPr txBox="1"/>
          <p:nvPr/>
        </p:nvSpPr>
        <p:spPr>
          <a:xfrm>
            <a:off x="548640" y="65379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 SAS  ·  Optimización de Gestión de Inventarios y Abastecimiento  ·  Sustentación Junta Directiva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3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3657600"/>
            <a:ext cx="6400800" cy="640080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SÍNTESIS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822960" y="1554480"/>
            <a:ext cx="8686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t>Datos limpios, base de datos en orden</a:t>
            </a:r>
            <a:endParaRPr lang="en-US" sz="3200" dirty="0"/>
          </a:p>
          <a:p>
            <a:pPr indent="0" marL="0">
              <a:lnSpc>
                <a:spcPct val="105000"/>
              </a:lnSpc>
              <a:buNone/>
            </a:pPr>
            <a:r>
              <a:t>y costos claros en pesos reales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822960" y="288036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Las dos quejas de la empresa quedaron 100% comprobadas con datos reales. Hoy entregamos el diagnóstico claro y los costos actuales para implementar las soluciones en la Fase E2.</a:t>
            </a:r>
          </a:p>
        </p:txBody>
      </p:sp>
      <p:sp>
        <p:nvSpPr>
          <p:cNvPr id="6" name="Shape 4"/>
          <p:cNvSpPr/>
          <p:nvPr/>
        </p:nvSpPr>
        <p:spPr>
          <a:xfrm>
            <a:off x="822960" y="3904488"/>
            <a:ext cx="676656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3977640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$3.801.600.000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3657600" y="397764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en riesgo por paradas (Lámina)</a:t>
            </a:r>
          </a:p>
        </p:txBody>
      </p:sp>
      <p:sp>
        <p:nvSpPr>
          <p:cNvPr id="9" name="Shape 7"/>
          <p:cNvSpPr/>
          <p:nvPr/>
        </p:nvSpPr>
        <p:spPr>
          <a:xfrm>
            <a:off x="822960" y="4434840"/>
            <a:ext cx="676656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4507992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$3.550.022.309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657600" y="4507992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en materiales guardados (Plata muerta)</a:t>
            </a:r>
          </a:p>
        </p:txBody>
      </p:sp>
      <p:sp>
        <p:nvSpPr>
          <p:cNvPr id="12" name="Shape 10"/>
          <p:cNvSpPr/>
          <p:nvPr/>
        </p:nvSpPr>
        <p:spPr>
          <a:xfrm>
            <a:off x="822960" y="4965192"/>
            <a:ext cx="6766560" cy="0"/>
          </a:xfrm>
          <a:prstGeom prst="line">
            <a:avLst/>
          </a:prstGeom>
          <a:noFill/>
          <a:ln w="12700">
            <a:solidFill>
              <a:srgbClr val="39407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22960" y="5038344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$887.505.577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5038344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COP al año de costo por mantener inventario quieto</a:t>
            </a:r>
          </a:p>
        </p:txBody>
      </p:sp>
      <p:sp>
        <p:nvSpPr>
          <p:cNvPr id="15" name="Text 13"/>
          <p:cNvSpPr txBox="1"/>
          <p:nvPr/>
        </p:nvSpPr>
        <p:spPr>
          <a:xfrm>
            <a:off x="822960" y="6080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t>Muchas gracias — quedamos atentos a las preguntas de la Junta Directiva y los profesores.</a:t>
            </a:r>
          </a:p>
        </p:txBody>
      </p:sp>
      <p:sp>
        <p:nvSpPr>
          <p:cNvPr id="16" name="Text 14"/>
          <p:cNvSpPr/>
          <p:nvPr/>
        </p:nvSpPr>
        <p:spPr>
          <a:xfrm>
            <a:off x="11475720" y="65379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993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2026-09-07T20:09:05Z</dcterms:created>
  <dcterms:modified xsi:type="dcterms:W3CDTF">2026-09-07T20:09:05Z</dcterms:modified>
</cp:coreProperties>
</file>